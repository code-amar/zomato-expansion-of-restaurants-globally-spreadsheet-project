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2" r:id="rId1"/>
  </p:sldMasterIdLst>
  <p:notesMasterIdLst>
    <p:notesMasterId r:id="rId22"/>
  </p:notesMasterIdLst>
  <p:sldIdLst>
    <p:sldId id="258" r:id="rId2"/>
    <p:sldId id="283" r:id="rId3"/>
    <p:sldId id="284" r:id="rId4"/>
    <p:sldId id="285" r:id="rId5"/>
    <p:sldId id="263" r:id="rId6"/>
    <p:sldId id="286" r:id="rId7"/>
    <p:sldId id="264" r:id="rId8"/>
    <p:sldId id="265" r:id="rId9"/>
    <p:sldId id="287" r:id="rId10"/>
    <p:sldId id="267" r:id="rId11"/>
    <p:sldId id="269" r:id="rId12"/>
    <p:sldId id="268" r:id="rId13"/>
    <p:sldId id="270" r:id="rId14"/>
    <p:sldId id="288" r:id="rId15"/>
    <p:sldId id="289" r:id="rId16"/>
    <p:sldId id="274" r:id="rId17"/>
    <p:sldId id="290" r:id="rId18"/>
    <p:sldId id="279" r:id="rId19"/>
    <p:sldId id="293" r:id="rId20"/>
    <p:sldId id="29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4611"/>
  </p:normalViewPr>
  <p:slideViewPr>
    <p:cSldViewPr snapToGrid="0">
      <p:cViewPr varScale="1">
        <p:scale>
          <a:sx n="136" d="100"/>
          <a:sy n="136" d="100"/>
        </p:scale>
        <p:origin x="7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388529-7A72-8446-BFC3-2B290B411095}" type="doc">
      <dgm:prSet loTypeId="urn:microsoft.com/office/officeart/2005/8/layout/matrix3" loCatId="matrix" qsTypeId="urn:microsoft.com/office/officeart/2005/8/quickstyle/simple5" qsCatId="simple" csTypeId="urn:microsoft.com/office/officeart/2005/8/colors/accent1_3" csCatId="accent1"/>
      <dgm:spPr/>
      <dgm:t>
        <a:bodyPr/>
        <a:lstStyle/>
        <a:p>
          <a:endParaRPr lang="en-GB"/>
        </a:p>
      </dgm:t>
    </dgm:pt>
    <dgm:pt modelId="{85671322-1962-E346-872D-A5BBA1DC3D66}">
      <dgm:prSet/>
      <dgm:spPr/>
      <dgm:t>
        <a:bodyPr/>
        <a:lstStyle/>
        <a:p>
          <a:r>
            <a:rPr lang="en-GB" dirty="0"/>
            <a:t>Problem Statement</a:t>
          </a:r>
          <a:endParaRPr lang="en-IN" dirty="0"/>
        </a:p>
      </dgm:t>
    </dgm:pt>
    <dgm:pt modelId="{5E85AD25-BC56-1A44-826F-D505D5C22A67}" type="parTrans" cxnId="{9392F996-41E4-B740-B53B-FF3417928521}">
      <dgm:prSet/>
      <dgm:spPr/>
      <dgm:t>
        <a:bodyPr/>
        <a:lstStyle/>
        <a:p>
          <a:endParaRPr lang="en-GB"/>
        </a:p>
      </dgm:t>
    </dgm:pt>
    <dgm:pt modelId="{972EC4B9-5941-8E40-82CC-4DC8B7E68FA6}" type="sibTrans" cxnId="{9392F996-41E4-B740-B53B-FF3417928521}">
      <dgm:prSet/>
      <dgm:spPr/>
      <dgm:t>
        <a:bodyPr/>
        <a:lstStyle/>
        <a:p>
          <a:endParaRPr lang="en-GB"/>
        </a:p>
      </dgm:t>
    </dgm:pt>
    <dgm:pt modelId="{F5E0EB33-273C-B947-AB28-4895D1962A14}">
      <dgm:prSet/>
      <dgm:spPr/>
      <dgm:t>
        <a:bodyPr/>
        <a:lstStyle/>
        <a:p>
          <a:r>
            <a:rPr lang="en-GB"/>
            <a:t>Objects Of Project</a:t>
          </a:r>
          <a:endParaRPr lang="en-IN"/>
        </a:p>
      </dgm:t>
    </dgm:pt>
    <dgm:pt modelId="{14D2566D-9078-6E47-8AAA-21547C9E5DDA}" type="parTrans" cxnId="{443AD9EC-42AE-0548-ADAD-B9221CF4EF3E}">
      <dgm:prSet/>
      <dgm:spPr/>
      <dgm:t>
        <a:bodyPr/>
        <a:lstStyle/>
        <a:p>
          <a:endParaRPr lang="en-GB"/>
        </a:p>
      </dgm:t>
    </dgm:pt>
    <dgm:pt modelId="{B3C93095-29B8-F745-B354-C3D34EC02E0E}" type="sibTrans" cxnId="{443AD9EC-42AE-0548-ADAD-B9221CF4EF3E}">
      <dgm:prSet/>
      <dgm:spPr/>
      <dgm:t>
        <a:bodyPr/>
        <a:lstStyle/>
        <a:p>
          <a:endParaRPr lang="en-GB"/>
        </a:p>
      </dgm:t>
    </dgm:pt>
    <dgm:pt modelId="{A62FE1DA-6F96-294D-9220-B37D76502877}">
      <dgm:prSet/>
      <dgm:spPr/>
      <dgm:t>
        <a:bodyPr/>
        <a:lstStyle/>
        <a:p>
          <a:r>
            <a:rPr lang="en-US"/>
            <a:t>Data Description &amp; Methodology</a:t>
          </a:r>
          <a:endParaRPr lang="en-IN"/>
        </a:p>
      </dgm:t>
    </dgm:pt>
    <dgm:pt modelId="{6DF52D26-0513-7943-9222-072BEE4DCCE5}" type="parTrans" cxnId="{584BC457-10BB-B74D-A3B6-F224E7279FD2}">
      <dgm:prSet/>
      <dgm:spPr/>
      <dgm:t>
        <a:bodyPr/>
        <a:lstStyle/>
        <a:p>
          <a:endParaRPr lang="en-GB"/>
        </a:p>
      </dgm:t>
    </dgm:pt>
    <dgm:pt modelId="{FD1A2316-ED53-B44A-AFD6-0E7B30D9BA5E}" type="sibTrans" cxnId="{584BC457-10BB-B74D-A3B6-F224E7279FD2}">
      <dgm:prSet/>
      <dgm:spPr/>
      <dgm:t>
        <a:bodyPr/>
        <a:lstStyle/>
        <a:p>
          <a:endParaRPr lang="en-GB"/>
        </a:p>
      </dgm:t>
    </dgm:pt>
    <dgm:pt modelId="{D2CF4D2E-7639-DF47-8FA4-898114B1DA01}">
      <dgm:prSet/>
      <dgm:spPr/>
      <dgm:t>
        <a:bodyPr/>
        <a:lstStyle/>
        <a:p>
          <a:r>
            <a:rPr lang="en-GB"/>
            <a:t>Key Metrics &amp; Visualisation</a:t>
          </a:r>
          <a:endParaRPr lang="en-IN"/>
        </a:p>
      </dgm:t>
    </dgm:pt>
    <dgm:pt modelId="{A5DA5054-9B5B-D84D-A155-CB4F68C5F27F}" type="parTrans" cxnId="{E39B30B2-E7B9-DA40-85A6-82F597D89EB1}">
      <dgm:prSet/>
      <dgm:spPr/>
      <dgm:t>
        <a:bodyPr/>
        <a:lstStyle/>
        <a:p>
          <a:endParaRPr lang="en-GB"/>
        </a:p>
      </dgm:t>
    </dgm:pt>
    <dgm:pt modelId="{4FB62FA6-B97B-B14A-A276-D2CB7067A355}" type="sibTrans" cxnId="{E39B30B2-E7B9-DA40-85A6-82F597D89EB1}">
      <dgm:prSet/>
      <dgm:spPr/>
      <dgm:t>
        <a:bodyPr/>
        <a:lstStyle/>
        <a:p>
          <a:endParaRPr lang="en-GB"/>
        </a:p>
      </dgm:t>
    </dgm:pt>
    <dgm:pt modelId="{0665E518-5307-8342-98CD-DA7522B7917E}">
      <dgm:prSet/>
      <dgm:spPr/>
      <dgm:t>
        <a:bodyPr/>
        <a:lstStyle/>
        <a:p>
          <a:endParaRPr lang="en-GB"/>
        </a:p>
      </dgm:t>
    </dgm:pt>
    <dgm:pt modelId="{725311C3-7F23-C949-9D0E-8936AFCD68DA}" type="parTrans" cxnId="{CB684F7D-CDDD-1147-A71C-FBF8E2ECEDDC}">
      <dgm:prSet/>
      <dgm:spPr/>
      <dgm:t>
        <a:bodyPr/>
        <a:lstStyle/>
        <a:p>
          <a:endParaRPr lang="en-GB"/>
        </a:p>
      </dgm:t>
    </dgm:pt>
    <dgm:pt modelId="{0FAF671E-2C2E-F64C-974E-C2A7185E16D2}" type="sibTrans" cxnId="{CB684F7D-CDDD-1147-A71C-FBF8E2ECEDDC}">
      <dgm:prSet/>
      <dgm:spPr/>
      <dgm:t>
        <a:bodyPr/>
        <a:lstStyle/>
        <a:p>
          <a:endParaRPr lang="en-GB"/>
        </a:p>
      </dgm:t>
    </dgm:pt>
    <dgm:pt modelId="{89E62227-7731-AE47-9BFE-BCF34BB657BD}" type="pres">
      <dgm:prSet presAssocID="{90388529-7A72-8446-BFC3-2B290B411095}" presName="matrix" presStyleCnt="0">
        <dgm:presLayoutVars>
          <dgm:chMax val="1"/>
          <dgm:dir/>
          <dgm:resizeHandles val="exact"/>
        </dgm:presLayoutVars>
      </dgm:prSet>
      <dgm:spPr/>
    </dgm:pt>
    <dgm:pt modelId="{509866EC-616C-6249-B282-D193D0B25841}" type="pres">
      <dgm:prSet presAssocID="{90388529-7A72-8446-BFC3-2B290B411095}" presName="diamond" presStyleLbl="bgShp" presStyleIdx="0" presStyleCnt="1"/>
      <dgm:spPr/>
    </dgm:pt>
    <dgm:pt modelId="{307D0207-941D-3546-9E31-30B7181D253F}" type="pres">
      <dgm:prSet presAssocID="{90388529-7A72-8446-BFC3-2B290B41109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9D7DFF2-01E9-034D-9A7F-CD9E8F5941AB}" type="pres">
      <dgm:prSet presAssocID="{90388529-7A72-8446-BFC3-2B290B41109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4FAE7D8-F4C3-4246-8372-3AA5A05503CD}" type="pres">
      <dgm:prSet presAssocID="{90388529-7A72-8446-BFC3-2B290B41109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BFFE352-FBD5-FC42-AC26-56BD77E9E5D1}" type="pres">
      <dgm:prSet presAssocID="{90388529-7A72-8446-BFC3-2B290B41109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84BC457-10BB-B74D-A3B6-F224E7279FD2}" srcId="{90388529-7A72-8446-BFC3-2B290B411095}" destId="{A62FE1DA-6F96-294D-9220-B37D76502877}" srcOrd="2" destOrd="0" parTransId="{6DF52D26-0513-7943-9222-072BEE4DCCE5}" sibTransId="{FD1A2316-ED53-B44A-AFD6-0E7B30D9BA5E}"/>
    <dgm:cxn modelId="{18E44377-9FB7-2B43-B312-49B1E2B78958}" type="presOf" srcId="{F5E0EB33-273C-B947-AB28-4895D1962A14}" destId="{99D7DFF2-01E9-034D-9A7F-CD9E8F5941AB}" srcOrd="0" destOrd="0" presId="urn:microsoft.com/office/officeart/2005/8/layout/matrix3"/>
    <dgm:cxn modelId="{CB684F7D-CDDD-1147-A71C-FBF8E2ECEDDC}" srcId="{90388529-7A72-8446-BFC3-2B290B411095}" destId="{0665E518-5307-8342-98CD-DA7522B7917E}" srcOrd="4" destOrd="0" parTransId="{725311C3-7F23-C949-9D0E-8936AFCD68DA}" sibTransId="{0FAF671E-2C2E-F64C-974E-C2A7185E16D2}"/>
    <dgm:cxn modelId="{7AF77B82-7BA9-084B-9FFD-1F53DC376CCE}" type="presOf" srcId="{A62FE1DA-6F96-294D-9220-B37D76502877}" destId="{24FAE7D8-F4C3-4246-8372-3AA5A05503CD}" srcOrd="0" destOrd="0" presId="urn:microsoft.com/office/officeart/2005/8/layout/matrix3"/>
    <dgm:cxn modelId="{9392F996-41E4-B740-B53B-FF3417928521}" srcId="{90388529-7A72-8446-BFC3-2B290B411095}" destId="{85671322-1962-E346-872D-A5BBA1DC3D66}" srcOrd="0" destOrd="0" parTransId="{5E85AD25-BC56-1A44-826F-D505D5C22A67}" sibTransId="{972EC4B9-5941-8E40-82CC-4DC8B7E68FA6}"/>
    <dgm:cxn modelId="{E39B30B2-E7B9-DA40-85A6-82F597D89EB1}" srcId="{90388529-7A72-8446-BFC3-2B290B411095}" destId="{D2CF4D2E-7639-DF47-8FA4-898114B1DA01}" srcOrd="3" destOrd="0" parTransId="{A5DA5054-9B5B-D84D-A155-CB4F68C5F27F}" sibTransId="{4FB62FA6-B97B-B14A-A276-D2CB7067A355}"/>
    <dgm:cxn modelId="{57AAFBB2-7AB9-1148-BB31-0C801643BECE}" type="presOf" srcId="{D2CF4D2E-7639-DF47-8FA4-898114B1DA01}" destId="{7BFFE352-FBD5-FC42-AC26-56BD77E9E5D1}" srcOrd="0" destOrd="0" presId="urn:microsoft.com/office/officeart/2005/8/layout/matrix3"/>
    <dgm:cxn modelId="{A08941C6-2C3C-0948-B1E3-AF56EA5BF4B6}" type="presOf" srcId="{90388529-7A72-8446-BFC3-2B290B411095}" destId="{89E62227-7731-AE47-9BFE-BCF34BB657BD}" srcOrd="0" destOrd="0" presId="urn:microsoft.com/office/officeart/2005/8/layout/matrix3"/>
    <dgm:cxn modelId="{44F585D9-F57D-AD44-B425-97F0B57C1743}" type="presOf" srcId="{85671322-1962-E346-872D-A5BBA1DC3D66}" destId="{307D0207-941D-3546-9E31-30B7181D253F}" srcOrd="0" destOrd="0" presId="urn:microsoft.com/office/officeart/2005/8/layout/matrix3"/>
    <dgm:cxn modelId="{443AD9EC-42AE-0548-ADAD-B9221CF4EF3E}" srcId="{90388529-7A72-8446-BFC3-2B290B411095}" destId="{F5E0EB33-273C-B947-AB28-4895D1962A14}" srcOrd="1" destOrd="0" parTransId="{14D2566D-9078-6E47-8AAA-21547C9E5DDA}" sibTransId="{B3C93095-29B8-F745-B354-C3D34EC02E0E}"/>
    <dgm:cxn modelId="{1B39BEA5-7F09-D94F-9DA4-EE406D518320}" type="presParOf" srcId="{89E62227-7731-AE47-9BFE-BCF34BB657BD}" destId="{509866EC-616C-6249-B282-D193D0B25841}" srcOrd="0" destOrd="0" presId="urn:microsoft.com/office/officeart/2005/8/layout/matrix3"/>
    <dgm:cxn modelId="{FCD34B85-B27D-B442-AA79-8C45A497572C}" type="presParOf" srcId="{89E62227-7731-AE47-9BFE-BCF34BB657BD}" destId="{307D0207-941D-3546-9E31-30B7181D253F}" srcOrd="1" destOrd="0" presId="urn:microsoft.com/office/officeart/2005/8/layout/matrix3"/>
    <dgm:cxn modelId="{9ECAEB1F-68DD-C545-87C1-A8BB4D50E894}" type="presParOf" srcId="{89E62227-7731-AE47-9BFE-BCF34BB657BD}" destId="{99D7DFF2-01E9-034D-9A7F-CD9E8F5941AB}" srcOrd="2" destOrd="0" presId="urn:microsoft.com/office/officeart/2005/8/layout/matrix3"/>
    <dgm:cxn modelId="{21086BE3-99F4-614F-AB46-B152B92217A3}" type="presParOf" srcId="{89E62227-7731-AE47-9BFE-BCF34BB657BD}" destId="{24FAE7D8-F4C3-4246-8372-3AA5A05503CD}" srcOrd="3" destOrd="0" presId="urn:microsoft.com/office/officeart/2005/8/layout/matrix3"/>
    <dgm:cxn modelId="{ED08C30B-6954-3445-BA8C-F9D0A2570E76}" type="presParOf" srcId="{89E62227-7731-AE47-9BFE-BCF34BB657BD}" destId="{7BFFE352-FBD5-FC42-AC26-56BD77E9E5D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866EC-616C-6249-B282-D193D0B25841}">
      <dsp:nvSpPr>
        <dsp:cNvPr id="0" name=""/>
        <dsp:cNvSpPr/>
      </dsp:nvSpPr>
      <dsp:spPr>
        <a:xfrm>
          <a:off x="2460081" y="0"/>
          <a:ext cx="5118184" cy="5118184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07D0207-941D-3546-9E31-30B7181D253F}">
      <dsp:nvSpPr>
        <dsp:cNvPr id="0" name=""/>
        <dsp:cNvSpPr/>
      </dsp:nvSpPr>
      <dsp:spPr>
        <a:xfrm>
          <a:off x="2946308" y="486227"/>
          <a:ext cx="1996091" cy="1996091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Problem Statement</a:t>
          </a:r>
          <a:endParaRPr lang="en-IN" sz="2200" kern="1200" dirty="0"/>
        </a:p>
      </dsp:txBody>
      <dsp:txXfrm>
        <a:off x="3043749" y="583668"/>
        <a:ext cx="1801209" cy="1801209"/>
      </dsp:txXfrm>
    </dsp:sp>
    <dsp:sp modelId="{99D7DFF2-01E9-034D-9A7F-CD9E8F5941AB}">
      <dsp:nvSpPr>
        <dsp:cNvPr id="0" name=""/>
        <dsp:cNvSpPr/>
      </dsp:nvSpPr>
      <dsp:spPr>
        <a:xfrm>
          <a:off x="5095946" y="486227"/>
          <a:ext cx="1996091" cy="1996091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181866"/>
                <a:satOff val="-18964"/>
                <a:lumOff val="127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81866"/>
                <a:satOff val="-18964"/>
                <a:lumOff val="127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81866"/>
                <a:satOff val="-18964"/>
                <a:lumOff val="127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Objects Of Project</a:t>
          </a:r>
          <a:endParaRPr lang="en-IN" sz="2200" kern="1200"/>
        </a:p>
      </dsp:txBody>
      <dsp:txXfrm>
        <a:off x="5193387" y="583668"/>
        <a:ext cx="1801209" cy="1801209"/>
      </dsp:txXfrm>
    </dsp:sp>
    <dsp:sp modelId="{24FAE7D8-F4C3-4246-8372-3AA5A05503CD}">
      <dsp:nvSpPr>
        <dsp:cNvPr id="0" name=""/>
        <dsp:cNvSpPr/>
      </dsp:nvSpPr>
      <dsp:spPr>
        <a:xfrm>
          <a:off x="2946308" y="2635864"/>
          <a:ext cx="1996091" cy="1996091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363732"/>
                <a:satOff val="-37928"/>
                <a:lumOff val="254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63732"/>
                <a:satOff val="-37928"/>
                <a:lumOff val="254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63732"/>
                <a:satOff val="-37928"/>
                <a:lumOff val="254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Description &amp; Methodology</a:t>
          </a:r>
          <a:endParaRPr lang="en-IN" sz="2200" kern="1200"/>
        </a:p>
      </dsp:txBody>
      <dsp:txXfrm>
        <a:off x="3043749" y="2733305"/>
        <a:ext cx="1801209" cy="1801209"/>
      </dsp:txXfrm>
    </dsp:sp>
    <dsp:sp modelId="{7BFFE352-FBD5-FC42-AC26-56BD77E9E5D1}">
      <dsp:nvSpPr>
        <dsp:cNvPr id="0" name=""/>
        <dsp:cNvSpPr/>
      </dsp:nvSpPr>
      <dsp:spPr>
        <a:xfrm>
          <a:off x="5095946" y="2635864"/>
          <a:ext cx="1996091" cy="1996091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Key Metrics &amp; Visualisation</a:t>
          </a:r>
          <a:endParaRPr lang="en-IN" sz="2200" kern="1200"/>
        </a:p>
      </dsp:txBody>
      <dsp:txXfrm>
        <a:off x="5193387" y="2733305"/>
        <a:ext cx="1801209" cy="18012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4FAD7-4F23-4043-9E18-0CE573FC9FE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11F71-AB42-B440-BC0B-3CE0B4CD5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3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1F71-AB42-B440-BC0B-3CE0B4CD57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34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1F71-AB42-B440-BC0B-3CE0B4CD57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38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1F71-AB42-B440-BC0B-3CE0B4CD57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7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1F71-AB42-B440-BC0B-3CE0B4CD578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69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1F71-AB42-B440-BC0B-3CE0B4CD578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23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EDA5-8886-BA09-10C6-D6400280A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CED91-326C-26F6-4C44-D1D75E99C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4AF35-0B9B-C527-C310-A0E3F41E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E9D-8EA0-0522-8DD2-CD1F6706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971EE-67A4-1F39-B69D-D8A6FFF5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3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3E017-9DE1-042E-C1BB-2DE0E37A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E41F6-FB53-64B9-2C77-D813568AC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C116F-8264-701D-C9F6-EB924500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F1A81-4D2A-3E20-BB15-FCA1EBA9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51068-7A38-BA14-BBA1-66883E754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3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FB05-DB09-D5A5-3BFE-30CC0686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1AF73-26E6-7B0C-0401-3A51E077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FC1E0-6B1B-1E8A-38AA-F96A7F18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D39B8-030D-14C4-E6CC-1EDB848E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0C37-9F96-C696-B847-2572CC52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3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FD5C-39ED-C8EB-0E2D-DD57C69C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6BAF-CB8B-3619-AEBA-65A4D99B2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6E2D9-CC23-1675-2211-A458CB01B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BFCE9-3C03-8F7B-0AD4-706AF819F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D0022-C29D-D777-3F96-8E108773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491C3-E623-A9C6-4356-9020D500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18F2-E814-C26F-5743-2B34B6589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8FE5C-39ED-C7C7-8BF7-3DC92393C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D809-2866-4FC3-1FD2-B9B97E47C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92CB16-9CD1-671D-0B9E-9DBBBE6E9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F2D25-389D-9BF7-ECD0-1F07F67C3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CCCBB5-2F17-83BD-FE96-A7A3F595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73D5E5-C425-BC24-06FD-3AFFA320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D6EA3-1994-670E-B9F8-92922F84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9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A79B-6628-2E8F-0614-984B5607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048C4-BA39-2FF1-C1DA-B7B2A2D3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1A0E8-60CD-4817-F4BA-CEC099F3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17D35-1480-7071-DDA9-3E758E18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6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8E0286-7738-9885-BC88-C76B4F29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16081-B6CE-9751-74B3-DD84D783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666CF-E699-28F4-B5D7-78E98116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3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452A-99F6-831F-56D7-7F772C8B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CC125-A44E-6BCE-386E-B652525BC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F69C1-3F03-92EC-B1BB-B89DB7842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80373-9382-9E70-E99B-DDCFEC8B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E023E-BC19-4EDA-4CB7-E819263A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1DBF3-3C7A-B2A9-224A-DE068CF2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04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F07E-3969-2E3C-9113-CE8293A2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81E4F-D97A-C4B3-EB14-73B86304F5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22960-0B4C-9E07-7309-8B750CC93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0EA59-6A1C-4AEF-1D4B-7D41F7D6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81A09-EF5F-F3B4-71A0-FC87523F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9E990-ABE6-0162-A5E2-A2DE235F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9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9112-6423-B9D1-33E4-555657B0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93B96-2A0C-196F-F49D-B1BAAD5DB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55805-E36D-2B22-2F89-297A4D6B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3123-BC6B-820C-EAAF-997C6577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121B2-639D-B22E-F340-8ADBE25B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1CEA3-7C1A-F3EB-DF0A-A0E97D4EE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18B0-F7CF-1178-EA09-B3E7C917D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267F9-0DEC-9F8D-9CDA-F04A74F41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43A02-2BEB-5F5A-4541-41302B602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452A4-6C9A-8D77-9701-36E309B4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C7D28-8AA0-C533-11F5-2252198F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1EE74-E5BA-99C5-EC82-A33318238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59A64-E4CC-FA5F-F09E-22C479F00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BF737-2152-2144-B07A-8B22D080683B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915F-4A5D-C4E2-912A-BAD90360D9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23DB0-79E3-76D4-48BB-D0869289D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43DAD-20B7-1447-8510-8DBD7AD0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9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appsrhino.com/blogs/revenue-model-of-zomato-complete-guide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white square with red text&#10;&#10;AI-generated content may be incorrect.">
            <a:extLst>
              <a:ext uri="{FF2B5EF4-FFF2-40B4-BE49-F238E27FC236}">
                <a16:creationId xmlns:a16="http://schemas.microsoft.com/office/drawing/2014/main" id="{D41747E3-320D-DD12-4BE0-B155C07BEF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116957" y="-26411"/>
            <a:ext cx="12397562" cy="694674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923EB2E-C844-60DF-9E0E-7BF2829E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32" y="570524"/>
            <a:ext cx="4178968" cy="544750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b="1" i="1" u="sng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cs typeface="Calibri" panose="020F0502020204030204" pitchFamily="34" charset="0"/>
              </a:rPr>
              <a:t>Spreadsheet Project</a:t>
            </a:r>
            <a:br>
              <a:rPr lang="en-US" u="sng" dirty="0">
                <a:solidFill>
                  <a:schemeClr val="bg1"/>
                </a:solidFill>
              </a:rPr>
            </a:br>
            <a:br>
              <a:rPr lang="en-US" u="sng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Zomato</a:t>
            </a:r>
            <a:r>
              <a:rPr lang="en-US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Restaurant Expansion</a:t>
            </a:r>
            <a:br>
              <a: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br>
              <a: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A Data-driven Analysis &amp; Recommendation</a:t>
            </a:r>
            <a:br>
              <a:rPr lang="en-US" i="1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sz="2800" dirty="0">
                <a:solidFill>
                  <a:schemeClr val="bg2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By Amar </a:t>
            </a:r>
            <a:br>
              <a:rPr lang="en-US" sz="2800" dirty="0">
                <a:solidFill>
                  <a:schemeClr val="bg2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solidFill>
                  <a:schemeClr val="bg2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Date :- 26-10-2025</a:t>
            </a:r>
          </a:p>
        </p:txBody>
      </p:sp>
      <p:pic>
        <p:nvPicPr>
          <p:cNvPr id="2" name="Picture 1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101F653F-2F4A-D5CF-1B84-E916FEE0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2C23A1-0604-3390-DFA5-2BC2015A394C}"/>
              </a:ext>
            </a:extLst>
          </p:cNvPr>
          <p:cNvCxnSpPr/>
          <p:nvPr/>
        </p:nvCxnSpPr>
        <p:spPr>
          <a:xfrm>
            <a:off x="680484" y="4508205"/>
            <a:ext cx="40722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53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15D7-49A0-9265-F54E-007A243B9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3633"/>
            <a:ext cx="10291011" cy="348420"/>
          </a:xfrm>
        </p:spPr>
        <p:txBody>
          <a:bodyPr>
            <a:normAutofit fontScale="90000"/>
          </a:bodyPr>
          <a:lstStyle/>
          <a:p>
            <a:r>
              <a:rPr lang="en-US" sz="2700" u="sng" dirty="0">
                <a:solidFill>
                  <a:srgbClr val="3970A3"/>
                </a:solidFill>
              </a:rPr>
              <a:t>What is </a:t>
            </a:r>
            <a:r>
              <a:rPr lang="en-US" sz="2700" b="1" u="sng" dirty="0">
                <a:solidFill>
                  <a:srgbClr val="3970A3"/>
                </a:solidFill>
              </a:rPr>
              <a:t>Zomato</a:t>
            </a:r>
            <a:r>
              <a:rPr lang="en-US" sz="2700" u="sng" dirty="0">
                <a:solidFill>
                  <a:srgbClr val="3970A3"/>
                </a:solidFill>
              </a:rPr>
              <a:t> &amp; how does it work?</a:t>
            </a:r>
            <a:br>
              <a:rPr lang="en-US" u="sng" dirty="0">
                <a:solidFill>
                  <a:srgbClr val="3970A3"/>
                </a:solidFill>
              </a:rPr>
            </a:br>
            <a:endParaRPr lang="en-US" dirty="0">
              <a:solidFill>
                <a:srgbClr val="3970A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00651-DA48-B4D8-58E7-8887AA355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8494" y="365126"/>
            <a:ext cx="6164180" cy="6384590"/>
          </a:xfrm>
        </p:spPr>
        <p:txBody>
          <a:bodyPr>
            <a:normAutofit fontScale="25000" lnSpcReduction="20000"/>
          </a:bodyPr>
          <a:lstStyle/>
          <a:p>
            <a:pPr algn="ctr"/>
            <a:endParaRPr lang="en-US" sz="5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anose="020F0502020204030204" pitchFamily="34" charset="0"/>
            </a:endParaRPr>
          </a:p>
          <a:p>
            <a:pPr algn="ctr"/>
            <a:endParaRPr lang="en-US" sz="5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5600" dirty="0">
                <a:cs typeface="Calibri" panose="020F0502020204030204" pitchFamily="34" charset="0"/>
              </a:rPr>
              <a:t>Zomato is one of the most comprehensive and user-friendly apps for finding nearby restaurants and cafés to dine in or to order food online.</a:t>
            </a:r>
          </a:p>
          <a:p>
            <a:pPr>
              <a:buFont typeface="Wingdings" pitchFamily="2" charset="2"/>
              <a:buChar char="Ø"/>
            </a:pPr>
            <a:r>
              <a:rPr lang="en-IN" sz="5600" dirty="0"/>
              <a:t>Zomato's primary function is recommending local and neighbouring eateries to users and taking orders from them. </a:t>
            </a:r>
            <a:endParaRPr lang="en-US" sz="5600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5600" dirty="0">
                <a:cs typeface="Calibri" panose="020F0502020204030204" pitchFamily="34" charset="0"/>
              </a:rPr>
              <a:t>Users can use this information to place orders and enjoy delectable food in the comfort of their own homes.</a:t>
            </a:r>
            <a:r>
              <a:rPr lang="en-US" sz="5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US" sz="5600" b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Zomato offers timely delivery</a:t>
            </a:r>
            <a:r>
              <a:rPr lang="en-US" sz="5600" b="1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 </a:t>
            </a:r>
            <a:r>
              <a:rPr lang="en-US" sz="5600" dirty="0">
                <a:cs typeface="Calibri" panose="020F0502020204030204" pitchFamily="34" charset="0"/>
              </a:rPr>
              <a:t>to customer's doorstep, a joy for foodies. Customers no longer have to wait in restaurants for hours. 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5600" dirty="0">
                <a:cs typeface="Calibri" panose="020F0502020204030204" pitchFamily="34" charset="0"/>
              </a:rPr>
              <a:t>Founded by Deepinder Goyal in 2008.</a:t>
            </a:r>
          </a:p>
          <a:p>
            <a:endParaRPr lang="en-US" sz="5600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5600" dirty="0">
                <a:cs typeface="Calibri" panose="020F0502020204030204" pitchFamily="34" charset="0"/>
              </a:rPr>
              <a:t>Zomato's working model is simple. To enjoy a lip-smacking meal, customers have to follow these five simple steps- </a:t>
            </a:r>
          </a:p>
          <a:p>
            <a:pPr marL="0" indent="0">
              <a:buNone/>
            </a:pPr>
            <a:endParaRPr lang="en-US" sz="5600" dirty="0">
              <a:cs typeface="Calibri" panose="020F0502020204030204" pitchFamily="34" charset="0"/>
            </a:endParaRPr>
          </a:p>
          <a:p>
            <a:r>
              <a:rPr lang="en-US" sz="5600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1</a:t>
            </a:r>
            <a:endParaRPr lang="en-US" sz="5600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sz="5600" dirty="0">
                <a:cs typeface="Calibri" panose="020F0502020204030204" pitchFamily="34" charset="0"/>
              </a:rPr>
              <a:t>Users may browse and order food from various restaurants via the desiccated app or website. </a:t>
            </a:r>
          </a:p>
          <a:p>
            <a:r>
              <a:rPr lang="en-US" sz="5600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2</a:t>
            </a:r>
            <a:endParaRPr lang="en-US" sz="5600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sz="5600" dirty="0">
                <a:cs typeface="Calibri" panose="020F0502020204030204" pitchFamily="34" charset="0"/>
              </a:rPr>
              <a:t>When restaurant owners receive an order request, they prepare a dish. </a:t>
            </a:r>
          </a:p>
          <a:p>
            <a:r>
              <a:rPr lang="en-US" sz="5600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3</a:t>
            </a:r>
            <a:endParaRPr lang="en-US" sz="5600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sz="5600" dirty="0">
                <a:cs typeface="Calibri" panose="020F0502020204030204" pitchFamily="34" charset="0"/>
              </a:rPr>
              <a:t>As the food is prepared for delivery, it is given to delivery companies. </a:t>
            </a:r>
          </a:p>
          <a:p>
            <a:r>
              <a:rPr lang="en-US" sz="5600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4</a:t>
            </a:r>
            <a:endParaRPr lang="en-US" sz="5600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sz="5600" dirty="0">
                <a:cs typeface="Calibri" panose="020F0502020204030204" pitchFamily="34" charset="0"/>
              </a:rPr>
              <a:t>The delivery service delivers food to the customer's preferred location. </a:t>
            </a:r>
          </a:p>
          <a:p>
            <a:r>
              <a:rPr lang="en-US" sz="5600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5</a:t>
            </a:r>
            <a:endParaRPr lang="en-US" sz="5600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sz="5600" dirty="0">
                <a:cs typeface="Calibri" panose="020F0502020204030204" pitchFamily="34" charset="0"/>
              </a:rPr>
              <a:t>Customers can make purchases and provide evaluations based on their experience using the payment options. 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A1947B-8313-4CA8-D730-4DA690BF2B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320" y="782053"/>
            <a:ext cx="5252186" cy="5140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20093C-DD04-6F1C-5B56-07A72C880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5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FBC7-6CCD-4DD3-3755-B640F060A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Agenda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7FCA7AB-99BC-9D85-10AC-8BD4C57358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52447137"/>
              </p:ext>
            </p:extLst>
          </p:nvPr>
        </p:nvGraphicFramePr>
        <p:xfrm>
          <a:off x="838199" y="1058779"/>
          <a:ext cx="10038347" cy="5118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D0A13B65-9BCD-2303-B069-4DA69D660B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36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FB04E-CBEA-3235-7FF0-27CC94724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4105"/>
            <a:ext cx="5181600" cy="461285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Problem Statement</a:t>
            </a: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US" sz="2400" dirty="0"/>
              <a:t>
</a:t>
            </a:r>
            <a:r>
              <a:rPr lang="en-US" sz="1600" dirty="0"/>
              <a:t>Zomato is seeking to expand its presence by identifying new strategic locations for restaurant openings. This project utilizes data-driven insights to suggest optimal areas for expansion based on ratings, price, votes and cuisines.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u="sng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10" name="Content Placeholder 9" descr="A head with a light bulb inside&#10;&#10;AI-generated content may be incorrect.">
            <a:extLst>
              <a:ext uri="{FF2B5EF4-FFF2-40B4-BE49-F238E27FC236}">
                <a16:creationId xmlns:a16="http://schemas.microsoft.com/office/drawing/2014/main" id="{88006B4B-77AC-5F06-B365-C168A1689A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2646" y="1825625"/>
            <a:ext cx="3997659" cy="3997659"/>
          </a:xfrm>
        </p:spPr>
      </p:pic>
    </p:spTree>
    <p:extLst>
      <p:ext uri="{BB962C8B-B14F-4D97-AF65-F5344CB8AC3E}">
        <p14:creationId xmlns:p14="http://schemas.microsoft.com/office/powerpoint/2010/main" val="63254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FA11CB3A-9DDF-A63A-D54F-46FAE631B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6" y="1791729"/>
            <a:ext cx="10821027" cy="449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3E2F2FBC-5FBD-0EE5-DBF9-6F1A5D334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1-7F47-EDBF-AC8B-3E07DCFD100D}"/>
              </a:ext>
            </a:extLst>
          </p:cNvPr>
          <p:cNvSpPr/>
          <p:nvPr/>
        </p:nvSpPr>
        <p:spPr>
          <a:xfrm>
            <a:off x="789948" y="228600"/>
            <a:ext cx="10230978" cy="1563129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buFont typeface="Wingdings" pitchFamily="2" charset="2"/>
              <a:buChar char="Ø"/>
            </a:pPr>
            <a:r>
              <a:rPr lang="en-IN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You are hired as a consultant data analyst by Zomato where the team is looking   for expansion and opening more restaurants. Your task is to develop strategies/suggestions for opening newer restaurants</a:t>
            </a: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954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CEAF-F5DE-D6BD-29A1-36D083B7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026107" cy="1600200"/>
          </a:xfrm>
        </p:spPr>
        <p:txBody>
          <a:bodyPr/>
          <a:lstStyle/>
          <a:p>
            <a:r>
              <a:rPr lang="en-GB" b="1" dirty="0">
                <a:solidFill>
                  <a:srgbClr val="0070C0"/>
                </a:solidFill>
              </a:rPr>
              <a:t>                                     </a:t>
            </a:r>
            <a:r>
              <a:rPr lang="en-GB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Objective Of Project</a:t>
            </a:r>
            <a:br>
              <a:rPr lang="en-US" b="1" u="sng" dirty="0">
                <a:solidFill>
                  <a:srgbClr val="0070C0"/>
                </a:solidFill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65605-A604-805D-88F7-FA12E8E02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512424" cy="3811588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Determine possible countries for Zomato's growth.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Analyze market patterns.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Restaurant distribution.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Customer feedback, and pricing strategies to determine potential growth opportunities for Zomato.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To enhance service delivery, collect feedback and customer satisfaction statistics.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045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EEC2CF-A15D-317F-3AD2-8DB4C13A0824}"/>
              </a:ext>
            </a:extLst>
          </p:cNvPr>
          <p:cNvSpPr txBox="1"/>
          <p:nvPr/>
        </p:nvSpPr>
        <p:spPr>
          <a:xfrm>
            <a:off x="5727031" y="1383632"/>
            <a:ext cx="6200273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Has_Table_booking: </a:t>
            </a:r>
            <a:r>
              <a:rPr lang="en-US" sz="1600" dirty="0">
                <a:solidFill>
                  <a:srgbClr val="000000"/>
                </a:solidFill>
              </a:rPr>
              <a:t>Indicates whether the restaurant has a table booking option (Yes/No).</a:t>
            </a:r>
            <a:endParaRPr lang="en-US" sz="16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Has_Online_delivery: </a:t>
            </a:r>
            <a:r>
              <a:rPr lang="en-US" sz="1600" dirty="0">
                <a:solidFill>
                  <a:srgbClr val="000000"/>
                </a:solidFill>
              </a:rPr>
              <a:t>Indicates whether the restaurant offers online delivery (Yes/No).</a:t>
            </a:r>
            <a:endParaRPr lang="en-US" sz="16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Is_delivering_now: </a:t>
            </a:r>
            <a:r>
              <a:rPr lang="en-US" sz="1600" dirty="0">
                <a:solidFill>
                  <a:srgbClr val="000000"/>
                </a:solidFill>
              </a:rPr>
              <a:t>Indicates whether the restaurant is currently delivering (Yes/No).</a:t>
            </a:r>
            <a:endParaRPr lang="en-US" sz="16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Switch_to_order_menu: </a:t>
            </a:r>
            <a:r>
              <a:rPr lang="en-US" sz="1600" dirty="0">
                <a:solidFill>
                  <a:srgbClr val="000000"/>
                </a:solidFill>
              </a:rPr>
              <a:t>Indicates whether users can switch to the order menu (Yes/No).</a:t>
            </a:r>
            <a:endParaRPr lang="en-US" sz="16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Price_range: </a:t>
            </a:r>
            <a:r>
              <a:rPr lang="en-US" sz="1600" dirty="0">
                <a:solidFill>
                  <a:srgbClr val="000000"/>
                </a:solidFill>
              </a:rPr>
              <a:t>A numeric value indicating the price range category of the restaurant.</a:t>
            </a:r>
            <a:endParaRPr lang="en-US" sz="16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Votes: </a:t>
            </a:r>
            <a:r>
              <a:rPr lang="en-US" sz="1600" dirty="0">
                <a:solidFill>
                  <a:srgbClr val="000000"/>
                </a:solidFill>
              </a:rPr>
              <a:t>The number of votes or ratings/(feedback) received by the restaurant.</a:t>
            </a:r>
            <a:endParaRPr lang="en-US" sz="16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Average_Cost_for_two: </a:t>
            </a:r>
            <a:r>
              <a:rPr lang="en-US" sz="1600" dirty="0">
                <a:solidFill>
                  <a:srgbClr val="000000"/>
                </a:solidFill>
              </a:rPr>
              <a:t>The average cost for two people dining at the restaurant.</a:t>
            </a:r>
            <a:endParaRPr lang="en-US" sz="16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Rating: </a:t>
            </a:r>
            <a:r>
              <a:rPr lang="en-US" sz="1600" dirty="0">
                <a:solidFill>
                  <a:srgbClr val="000000"/>
                </a:solidFill>
              </a:rPr>
              <a:t>The overall rating of the restaurant is based on user reviews. </a:t>
            </a:r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4B75C-AE1B-C601-9F38-44F7B33E3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4695" y="1383632"/>
            <a:ext cx="5185610" cy="4752473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77500" lnSpcReduction="20000"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Restaurant ID: </a:t>
            </a:r>
            <a:r>
              <a:rPr lang="en-US" sz="2100" dirty="0">
                <a:solidFill>
                  <a:srgbClr val="000000"/>
                </a:solidFill>
              </a:rPr>
              <a:t>Unique identifier for each restaurant.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Restaurant Name: </a:t>
            </a:r>
            <a:r>
              <a:rPr lang="en-US" sz="2100" dirty="0">
                <a:solidFill>
                  <a:srgbClr val="000000"/>
                </a:solidFill>
              </a:rPr>
              <a:t>The name of the restaurant.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CountryCode: </a:t>
            </a:r>
            <a:r>
              <a:rPr lang="en-US" sz="2100" dirty="0">
                <a:solidFill>
                  <a:srgbClr val="000000"/>
                </a:solidFill>
              </a:rPr>
              <a:t>Country code of the location where the restaurant is situated.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City: </a:t>
            </a:r>
            <a:r>
              <a:rPr lang="en-US" sz="2100" dirty="0">
                <a:solidFill>
                  <a:srgbClr val="000000"/>
                </a:solidFill>
              </a:rPr>
              <a:t>The city where the restaurant is located.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Address: </a:t>
            </a:r>
            <a:r>
              <a:rPr lang="en-US" sz="2100" dirty="0">
                <a:solidFill>
                  <a:srgbClr val="000000"/>
                </a:solidFill>
              </a:rPr>
              <a:t>The specific address of the restaurant.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Locality: </a:t>
            </a:r>
            <a:r>
              <a:rPr lang="en-US" sz="2100" dirty="0">
                <a:solidFill>
                  <a:srgbClr val="000000"/>
                </a:solidFill>
              </a:rPr>
              <a:t>The locality or neighborhood where the restaurant is situated.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Locality Verbose: </a:t>
            </a:r>
            <a:r>
              <a:rPr lang="en-US" sz="2100" dirty="0">
                <a:solidFill>
                  <a:srgbClr val="000000"/>
                </a:solidFill>
              </a:rPr>
              <a:t>Detailed information about the locality.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Longitude: </a:t>
            </a:r>
            <a:r>
              <a:rPr lang="en-US" sz="2100" dirty="0">
                <a:solidFill>
                  <a:srgbClr val="000000"/>
                </a:solidFill>
              </a:rPr>
              <a:t>The geographical longitude coordinate of the restaurant.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Latitude: </a:t>
            </a:r>
            <a:r>
              <a:rPr lang="en-US" sz="2100" dirty="0">
                <a:solidFill>
                  <a:srgbClr val="000000"/>
                </a:solidFill>
              </a:rPr>
              <a:t>The geographical latitude coordinate of the restaurant.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Cuisines: </a:t>
            </a:r>
            <a:r>
              <a:rPr lang="en-US" sz="2100" dirty="0">
                <a:solidFill>
                  <a:srgbClr val="000000"/>
                </a:solidFill>
              </a:rPr>
              <a:t>The type of cuisine offered by the restaurant.</a:t>
            </a:r>
            <a:endParaRPr lang="en-US" sz="2100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Currency: </a:t>
            </a:r>
            <a:r>
              <a:rPr lang="en-US" sz="2100" dirty="0">
                <a:solidFill>
                  <a:srgbClr val="000000"/>
                </a:solidFill>
              </a:rPr>
              <a:t>The currency used for transactions in the restaurant.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Datekey_opening: </a:t>
            </a:r>
            <a:r>
              <a:rPr lang="en-US" sz="2100" dirty="0">
                <a:solidFill>
                  <a:srgbClr val="000000"/>
                </a:solidFill>
              </a:rPr>
              <a:t>The date when the restaurant was opened.</a:t>
            </a:r>
            <a:endParaRPr lang="en-US" sz="2100" b="1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15" name="Picture 14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28B125B2-110E-A80B-66AB-CC50FDF0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18ADB7-9215-5ED9-7235-4BF37F04B41D}"/>
              </a:ext>
            </a:extLst>
          </p:cNvPr>
          <p:cNvSpPr/>
          <p:nvPr/>
        </p:nvSpPr>
        <p:spPr>
          <a:xfrm>
            <a:off x="839788" y="168442"/>
            <a:ext cx="9796128" cy="9023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+mj-lt"/>
              </a:rPr>
              <a:t>                                           </a:t>
            </a:r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Data</a:t>
            </a:r>
            <a:r>
              <a:rPr lang="en-US" sz="3200" b="1" u="sng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Overview </a:t>
            </a:r>
            <a:endParaRPr lang="en-IN" sz="3200" u="sng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374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2B1E4D-309F-2285-3F8F-2E1093A7B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677952"/>
              </p:ext>
            </p:extLst>
          </p:nvPr>
        </p:nvGraphicFramePr>
        <p:xfrm>
          <a:off x="950495" y="1780675"/>
          <a:ext cx="9817768" cy="342099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908884">
                  <a:extLst>
                    <a:ext uri="{9D8B030D-6E8A-4147-A177-3AD203B41FA5}">
                      <a16:colId xmlns:a16="http://schemas.microsoft.com/office/drawing/2014/main" val="4160803688"/>
                    </a:ext>
                  </a:extLst>
                </a:gridCol>
                <a:gridCol w="4908884">
                  <a:extLst>
                    <a:ext uri="{9D8B030D-6E8A-4147-A177-3AD203B41FA5}">
                      <a16:colId xmlns:a16="http://schemas.microsoft.com/office/drawing/2014/main" val="2574215398"/>
                    </a:ext>
                  </a:extLst>
                </a:gridCol>
              </a:tblGrid>
              <a:tr h="45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                     Total Restaurants</a:t>
                      </a:r>
                      <a:endParaRPr lang="en-IN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970A3"/>
                          </a:solidFill>
                        </a:rPr>
                        <a:t>9551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477955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Total Countries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970A3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022488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Total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970A3"/>
                          </a:solidFill>
                        </a:rPr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023733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Total cuisines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970A3"/>
                          </a:solidFill>
                        </a:rPr>
                        <a:t>1821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040261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Service offered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970A3"/>
                          </a:solidFill>
                        </a:rPr>
                        <a:t>Online Booking, Table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161665"/>
                  </a:ext>
                </a:extLst>
              </a:tr>
              <a:tr h="559784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Average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970A3"/>
                          </a:solidFill>
                        </a:rPr>
                        <a:t>2.89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58047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970A3"/>
                          </a:solidFill>
                        </a:rPr>
                        <a:t>Average price in 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u="none" strike="noStrike" dirty="0">
                          <a:solidFill>
                            <a:srgbClr val="3970A3"/>
                          </a:solidFill>
                          <a:effectLst/>
                        </a:rPr>
                        <a:t>₹863</a:t>
                      </a:r>
                      <a:r>
                        <a:rPr lang="en-IN" sz="1600" dirty="0">
                          <a:solidFill>
                            <a:srgbClr val="3970A3"/>
                          </a:solidFill>
                          <a:effectLst/>
                        </a:rPr>
                        <a:t> </a:t>
                      </a:r>
                      <a:endParaRPr lang="en-US" sz="1600" dirty="0">
                        <a:solidFill>
                          <a:srgbClr val="3970A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374084"/>
                  </a:ext>
                </a:extLst>
              </a:tr>
            </a:tbl>
          </a:graphicData>
        </a:graphic>
      </p:graphicFrame>
      <p:pic>
        <p:nvPicPr>
          <p:cNvPr id="9" name="Picture 8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91F45AE1-21BF-8129-FC24-5D4E59827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BA1E40-C49E-BB90-52B2-1997C056E24B}"/>
              </a:ext>
            </a:extLst>
          </p:cNvPr>
          <p:cNvSpPr/>
          <p:nvPr/>
        </p:nvSpPr>
        <p:spPr>
          <a:xfrm>
            <a:off x="3850105" y="432486"/>
            <a:ext cx="3777916" cy="9020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+mj-lt"/>
              </a:rPr>
              <a:t>        </a:t>
            </a:r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Data</a:t>
            </a:r>
            <a:r>
              <a:rPr lang="en-US" sz="3200" b="1" u="sng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Snapshot</a:t>
            </a:r>
            <a:r>
              <a:rPr lang="en-US" sz="3200" b="1" u="sng" dirty="0">
                <a:solidFill>
                  <a:srgbClr val="C00000"/>
                </a:solidFill>
                <a:latin typeface="+mj-lt"/>
              </a:rPr>
              <a:t> </a:t>
            </a:r>
            <a:endParaRPr lang="en-IN" sz="3200" b="1" u="sng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659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6EF0-4C89-956C-2DCB-92C1CEC0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025" y="-172036"/>
            <a:ext cx="3932237" cy="1074404"/>
          </a:xfrm>
        </p:spPr>
        <p:txBody>
          <a:bodyPr/>
          <a:lstStyle/>
          <a:p>
            <a:r>
              <a:rPr lang="en-US" dirty="0"/>
              <a:t>                                                        </a:t>
            </a:r>
            <a:r>
              <a:rPr lang="en-US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2C8E4-B721-A8C2-C2B8-A1D62E421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32547"/>
            <a:ext cx="9615654" cy="4136441"/>
          </a:xfrm>
        </p:spPr>
        <p:txBody>
          <a:bodyPr>
            <a:normAutofit/>
          </a:bodyPr>
          <a:lstStyle/>
          <a:p>
            <a:pPr marL="57150" indent="-285750">
              <a:buFont typeface="Wingdings" pitchFamily="2" charset="2"/>
              <a:buChar char="Ø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Cleaning:</a:t>
            </a:r>
          </a:p>
          <a:p>
            <a:pPr marL="283464" indent="-228600">
              <a:buFont typeface="Arial" panose="020B0604020202020204" pitchFamily="34" charset="0"/>
              <a:buChar char="•"/>
            </a:pPr>
            <a:r>
              <a:rPr lang="en-US" dirty="0"/>
              <a:t>Addressed missing entries in the Cuisine column.</a:t>
            </a:r>
          </a:p>
          <a:p>
            <a:pPr marL="283464" indent="-228600">
              <a:buFont typeface="Arial" panose="020B0604020202020204" pitchFamily="34" charset="0"/>
              <a:buChar char="•"/>
            </a:pPr>
            <a:r>
              <a:rPr lang="en-US" dirty="0"/>
              <a:t>Eliminated unnecessary columns.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Enrichment:</a:t>
            </a:r>
          </a:p>
          <a:p>
            <a:pPr marL="283464" indent="-228600">
              <a:buFont typeface="Arial" panose="020B0604020202020204" pitchFamily="34" charset="0"/>
              <a:buChar char="•"/>
            </a:pPr>
            <a:r>
              <a:rPr lang="en-US" dirty="0"/>
              <a:t>Enhanced the dataset by incorporating country information through VLOOKUP based on the country code.</a:t>
            </a:r>
          </a:p>
          <a:p>
            <a:pPr marL="283464" indent="-228600">
              <a:buFont typeface="Arial" panose="020B0604020202020204" pitchFamily="34" charset="0"/>
              <a:buChar char="•"/>
            </a:pPr>
            <a:r>
              <a:rPr lang="en-US" dirty="0"/>
              <a:t>Derived year from the date key opening using text functions to facilitate analysis of temporal trends.</a:t>
            </a:r>
          </a:p>
          <a:p>
            <a:pPr marL="340614" indent="-285750">
              <a:buFont typeface="Wingdings" pitchFamily="2" charset="2"/>
              <a:buChar char="Ø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Descriptive Analysis: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Used pivot tables and pivot charts for dynamic summarization and visualization, enabling clear and actionable insights.</a:t>
            </a:r>
          </a:p>
          <a:p>
            <a:endParaRPr lang="en-US" dirty="0"/>
          </a:p>
        </p:txBody>
      </p:sp>
      <p:pic>
        <p:nvPicPr>
          <p:cNvPr id="6" name="Picture 5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DBC731B0-ED9C-9557-5733-F81EC27A4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5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the country&#10;&#10;AI-generated content may be incorrect.">
            <a:extLst>
              <a:ext uri="{FF2B5EF4-FFF2-40B4-BE49-F238E27FC236}">
                <a16:creationId xmlns:a16="http://schemas.microsoft.com/office/drawing/2014/main" id="{3BC14224-D91C-1EF9-FA27-09402F834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2" y="1816768"/>
            <a:ext cx="7526433" cy="33585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38D7E-6E28-A06C-2B5D-BD2AE857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989" y="98854"/>
            <a:ext cx="8308223" cy="654908"/>
          </a:xfrm>
        </p:spPr>
        <p:txBody>
          <a:bodyPr/>
          <a:lstStyle/>
          <a:p>
            <a:r>
              <a:rPr lang="en-US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Metrics and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FABC3-33B1-6F06-8A3A-2A90C2CEE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93703" y="819636"/>
            <a:ext cx="4441885" cy="1726097"/>
          </a:xfrm>
        </p:spPr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Calculated the total number of restaurants per country and visualized the insights through charts.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It is advisable to open new restaurants in Brazil, Sri Lanka, Canada, and Australia.</a:t>
            </a:r>
          </a:p>
        </p:txBody>
      </p:sp>
      <p:pic>
        <p:nvPicPr>
          <p:cNvPr id="11" name="Picture 10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8C1B95DF-519B-563C-6F51-DC28CE366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020AAB-F546-C9B5-7A40-23CACA6C209B}"/>
              </a:ext>
            </a:extLst>
          </p:cNvPr>
          <p:cNvSpPr txBox="1"/>
          <p:nvPr/>
        </p:nvSpPr>
        <p:spPr>
          <a:xfrm>
            <a:off x="92241" y="219943"/>
            <a:ext cx="2518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Count of Restaurants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2446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4CFE8706-5D40-A330-CAA7-5CB5A3782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3179"/>
            <a:ext cx="8157933" cy="316673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8A0E7-D685-B395-AAA4-7F5BAE6A0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54943" y="0"/>
            <a:ext cx="4842369" cy="279976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700" dirty="0"/>
              <a:t>Calculated the average number of voters per restaurant by country for comparative analysis.
</a:t>
            </a:r>
            <a:r>
              <a:rPr lang="en-GB" dirty="0"/>
              <a:t>A country with significant proportion of voters indicates more interaction with customers.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/>
              <a:t>Example from Chart: Indonesia, UAE, Turkey.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700" dirty="0"/>
          </a:p>
        </p:txBody>
      </p:sp>
      <p:pic>
        <p:nvPicPr>
          <p:cNvPr id="8" name="Picture 7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05AD3A0F-3939-C146-27C8-7DF5CD347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8661FE-F225-C9B7-C7D2-362F293954F3}"/>
              </a:ext>
            </a:extLst>
          </p:cNvPr>
          <p:cNvSpPr/>
          <p:nvPr/>
        </p:nvSpPr>
        <p:spPr>
          <a:xfrm>
            <a:off x="0" y="158833"/>
            <a:ext cx="3272590" cy="914400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Average number of Voters in each country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:</a:t>
            </a:r>
            <a:endParaRPr lang="en-IN" sz="2000" b="1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2936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numbers and a number&#10;&#10;AI-generated content may be incorrect.">
            <a:extLst>
              <a:ext uri="{FF2B5EF4-FFF2-40B4-BE49-F238E27FC236}">
                <a16:creationId xmlns:a16="http://schemas.microsoft.com/office/drawing/2014/main" id="{99EFB63E-9493-A887-F45C-5BA6C4C1E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68642"/>
            <a:ext cx="7363670" cy="332071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634C3-9A66-C7A8-7A25-4877679F5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54944" y="575035"/>
            <a:ext cx="4407404" cy="3403075"/>
          </a:xfrm>
        </p:spPr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A higher number of restaurants suggests greater consumer involvement.
Example from Chart: Years 2011, 2017, and 2018</a:t>
            </a:r>
          </a:p>
          <a:p>
            <a:endParaRPr lang="en-US" dirty="0"/>
          </a:p>
        </p:txBody>
      </p:sp>
      <p:pic>
        <p:nvPicPr>
          <p:cNvPr id="8" name="Picture 7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30CE459C-AE25-1AA8-7369-C17546A69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1A4237-E2CC-2ACC-B2DC-1668E051B52D}"/>
              </a:ext>
            </a:extLst>
          </p:cNvPr>
          <p:cNvSpPr/>
          <p:nvPr/>
        </p:nvSpPr>
        <p:spPr>
          <a:xfrm>
            <a:off x="180473" y="180474"/>
            <a:ext cx="2983832" cy="613610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Restaurants opened each year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:</a:t>
            </a:r>
            <a:br>
              <a:rPr lang="en-IN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093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3CA3E68A-17B9-6ECB-9CEA-69E36704C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04737"/>
            <a:ext cx="6495069" cy="415512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57DEF-0CDD-D151-F05D-E40C9AD87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5069" y="619626"/>
            <a:ext cx="5696931" cy="1816644"/>
          </a:xfrm>
        </p:spPr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/>
              <a:t>It is mandatory to understand ratings of restaurants in order to develop marketing plans and assess performance.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/>
              <a:t>High rating:</a:t>
            </a:r>
            <a:r>
              <a:rPr lang="en-GB" b="1" i="1" dirty="0"/>
              <a:t> </a:t>
            </a:r>
            <a:r>
              <a:rPr lang="en-GB" dirty="0"/>
              <a:t>Philippines, Turkey [These countries face major market demands].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/>
              <a:t>Low rating: Canada, Singapore [Improvements must be made]</a:t>
            </a:r>
            <a:endParaRPr lang="en-GB" b="1" i="1" dirty="0"/>
          </a:p>
          <a:p>
            <a:pPr marL="285750" indent="-285750">
              <a:buFont typeface="Wingdings" pitchFamily="2" charset="2"/>
              <a:buChar char="Ø"/>
            </a:pPr>
            <a:endParaRPr lang="en-US" sz="1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  <p:pic>
        <p:nvPicPr>
          <p:cNvPr id="8" name="Picture 7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F3AD8609-ADD9-A62C-CAC4-AA2860285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173" y="6176963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B17DD2-5A3C-3B4B-8A5F-D5D79E8BC83B}"/>
              </a:ext>
            </a:extLst>
          </p:cNvPr>
          <p:cNvSpPr/>
          <p:nvPr/>
        </p:nvSpPr>
        <p:spPr>
          <a:xfrm>
            <a:off x="0" y="144379"/>
            <a:ext cx="4006516" cy="950495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Average Rating of Restaurants in each Country:</a:t>
            </a:r>
            <a:br>
              <a:rPr lang="en-US" sz="1900" b="1" dirty="0"/>
            </a:br>
            <a:endParaRPr lang="en-IN" sz="1900" b="1" dirty="0"/>
          </a:p>
        </p:txBody>
      </p:sp>
    </p:spTree>
    <p:extLst>
      <p:ext uri="{BB962C8B-B14F-4D97-AF65-F5344CB8AC3E}">
        <p14:creationId xmlns:p14="http://schemas.microsoft.com/office/powerpoint/2010/main" val="140407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number of food&#10;&#10;AI-generated content may be incorrect.">
            <a:extLst>
              <a:ext uri="{FF2B5EF4-FFF2-40B4-BE49-F238E27FC236}">
                <a16:creationId xmlns:a16="http://schemas.microsoft.com/office/drawing/2014/main" id="{361087D4-8557-7B1D-F51F-5691B34AB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0" y="1253765"/>
            <a:ext cx="7514741" cy="46285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31D045-81A2-054C-53FF-1EFD673B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3859"/>
            <a:ext cx="3932237" cy="77002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Top 10 Cuisines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51BF9B95-406F-1D25-54FB-B5A91F9F5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88BC93-5CF5-6AF0-AFC0-EB56744387B5}"/>
              </a:ext>
            </a:extLst>
          </p:cNvPr>
          <p:cNvSpPr txBox="1"/>
          <p:nvPr/>
        </p:nvSpPr>
        <p:spPr>
          <a:xfrm>
            <a:off x="8116478" y="637675"/>
            <a:ext cx="3874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North Indian and Chinese are most popular cuisines.</a:t>
            </a:r>
          </a:p>
        </p:txBody>
      </p:sp>
    </p:spTree>
    <p:extLst>
      <p:ext uri="{BB962C8B-B14F-4D97-AF65-F5344CB8AC3E}">
        <p14:creationId xmlns:p14="http://schemas.microsoft.com/office/powerpoint/2010/main" val="3529138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8ACF-83CC-2EE4-949A-F9B8F681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867"/>
            <a:ext cx="3152274" cy="53022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Average cost of two INR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F675D-C0D4-0CCB-1AEB-39768E03B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85720" y="474734"/>
            <a:ext cx="5406280" cy="2259040"/>
          </a:xfrm>
        </p:spPr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 dirty="0"/>
              <a:t>Singapore</a:t>
            </a:r>
            <a:r>
              <a:rPr lang="en-IN" dirty="0"/>
              <a:t> is the most expensive, averaging 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b="1" dirty="0"/>
              <a:t>India </a:t>
            </a:r>
            <a:r>
              <a:rPr lang="en-IN" dirty="0"/>
              <a:t>and the </a:t>
            </a:r>
            <a:r>
              <a:rPr lang="en-IN" b="1" dirty="0"/>
              <a:t>UAE </a:t>
            </a:r>
            <a:r>
              <a:rPr lang="en-IN" dirty="0"/>
              <a:t>offer the most affordable dining.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Only </a:t>
            </a:r>
            <a:r>
              <a:rPr lang="en-IN" b="1" dirty="0"/>
              <a:t>Singapore</a:t>
            </a:r>
            <a:r>
              <a:rPr lang="en-IN" dirty="0"/>
              <a:t> and the </a:t>
            </a:r>
            <a:r>
              <a:rPr lang="en-IN" b="1" dirty="0"/>
              <a:t>Philippines</a:t>
            </a:r>
            <a:r>
              <a:rPr lang="en-IN" dirty="0"/>
              <a:t> (over ) exceed this threshold.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 The </a:t>
            </a:r>
            <a:r>
              <a:rPr lang="en-IN" b="1" dirty="0"/>
              <a:t>UK </a:t>
            </a:r>
            <a:r>
              <a:rPr lang="en-IN" dirty="0"/>
              <a:t>is over double the cost of the </a:t>
            </a:r>
            <a:r>
              <a:rPr lang="en-IN" b="1" dirty="0"/>
              <a:t>USA</a:t>
            </a:r>
            <a:r>
              <a:rPr lang="en-IN" dirty="0"/>
              <a:t>, showing major differences even within key markets.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8" name="Picture 7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323D5F64-41DA-0EFB-8A71-998542A94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727200"/>
            <a:ext cx="6693031" cy="4377199"/>
          </a:xfrm>
          <a:prstGeom prst="rect">
            <a:avLst/>
          </a:prstGeom>
        </p:spPr>
      </p:pic>
      <p:pic>
        <p:nvPicPr>
          <p:cNvPr id="9" name="Picture 8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0C14D1C4-F443-84D6-0E9E-E37657B0C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29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e chart with text&#10;&#10;AI-generated content may be incorrect.">
            <a:extLst>
              <a:ext uri="{FF2B5EF4-FFF2-40B4-BE49-F238E27FC236}">
                <a16:creationId xmlns:a16="http://schemas.microsoft.com/office/drawing/2014/main" id="{B13CDFA4-0FF8-2B49-5823-A31F220E8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146" y="3780976"/>
            <a:ext cx="3441677" cy="234644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F9167-CB26-76CA-304E-2CAC91320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9724" y="527344"/>
            <a:ext cx="4075050" cy="2418839"/>
          </a:xfrm>
        </p:spPr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Restaurants with online delivery and table booking have slightly better average ratings.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Having an online presence caters to more people and increases the overall rating.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New restaurants should offer at least table booking or online delivery—ideally both—to improve ratings.</a:t>
            </a:r>
          </a:p>
          <a:p>
            <a:pPr marL="285750" indent="-285750">
              <a:buFont typeface="Wingdings" pitchFamily="2" charset="2"/>
              <a:buChar char="Ø"/>
            </a:pPr>
            <a:endParaRPr lang="en-IN" dirty="0"/>
          </a:p>
          <a:p>
            <a:endParaRPr lang="en-US" dirty="0"/>
          </a:p>
        </p:txBody>
      </p:sp>
      <p:pic>
        <p:nvPicPr>
          <p:cNvPr id="10" name="Picture 9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20705BC3-C118-C0C4-BC66-821FE5964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BAB6B6-A983-A72C-BE3D-E7EB4EA4F7E9}"/>
              </a:ext>
            </a:extLst>
          </p:cNvPr>
          <p:cNvSpPr/>
          <p:nvPr/>
        </p:nvSpPr>
        <p:spPr>
          <a:xfrm>
            <a:off x="-1" y="192505"/>
            <a:ext cx="4427621" cy="766119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Delivery and Table Booking Analysis</a:t>
            </a:r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:</a:t>
            </a:r>
          </a:p>
        </p:txBody>
      </p:sp>
      <p:pic>
        <p:nvPicPr>
          <p:cNvPr id="6" name="Picture 5" descr="A pie chart with text&#10;&#10;AI-generated content may be incorrect.">
            <a:extLst>
              <a:ext uri="{FF2B5EF4-FFF2-40B4-BE49-F238E27FC236}">
                <a16:creationId xmlns:a16="http://schemas.microsoft.com/office/drawing/2014/main" id="{E9D42CFC-7F41-9FA1-3A8C-5C7AC97D2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90" y="1736764"/>
            <a:ext cx="3497397" cy="195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05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2A58-2057-3741-31FE-42428401F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881" y="188912"/>
            <a:ext cx="3932237" cy="1600200"/>
          </a:xfrm>
        </p:spPr>
        <p:txBody>
          <a:bodyPr/>
          <a:lstStyle/>
          <a:p>
            <a:r>
              <a:rPr lang="en-US" b="1" u="sng" dirty="0">
                <a:solidFill>
                  <a:srgbClr val="3970A3"/>
                </a:solidFill>
              </a:rPr>
              <a:t>Recommendations</a:t>
            </a:r>
            <a:r>
              <a:rPr lang="en-US" dirty="0">
                <a:solidFill>
                  <a:srgbClr val="3970A3"/>
                </a:solidFill>
              </a:rPr>
              <a:t>:</a:t>
            </a:r>
            <a:br>
              <a:rPr lang="en-IN" dirty="0">
                <a:solidFill>
                  <a:srgbClr val="3970A3"/>
                </a:solidFill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1C4F7-A2A9-FEC2-A605-84CCF0566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89112"/>
            <a:ext cx="10325517" cy="4407151"/>
          </a:xfrm>
        </p:spPr>
        <p:txBody>
          <a:bodyPr>
            <a:noAutofit/>
          </a:bodyPr>
          <a:lstStyle/>
          <a:p>
            <a:pPr marL="342900" lvl="0" indent="-342900">
              <a:buFont typeface="Wingdings" pitchFamily="2" charset="2"/>
              <a:buChar char="Ø"/>
            </a:pPr>
            <a:r>
              <a:rPr lang="en-IN" sz="2000" dirty="0"/>
              <a:t>Focus on opening new restaurants in countries with strong potential and healthy competition.</a:t>
            </a:r>
            <a:endParaRPr lang="en-US" sz="2000" dirty="0"/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2000" dirty="0"/>
              <a:t>Prioritise markets with fewer existing eateries for easier entry.</a:t>
            </a:r>
            <a:endParaRPr lang="en-US" sz="2000" dirty="0"/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2000" dirty="0"/>
              <a:t>Use restaurant density analysis to spot growth opportunities and prime customer locations.</a:t>
            </a:r>
            <a:endParaRPr lang="en-US" sz="2000" dirty="0"/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2000" dirty="0"/>
              <a:t>Identify major competitors to inform strategies for differentiating new venues.</a:t>
            </a:r>
            <a:endParaRPr lang="en-US" sz="2000" dirty="0"/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2000" dirty="0"/>
              <a:t>Understand customer sentiment to guide improvements.</a:t>
            </a:r>
            <a:endParaRPr lang="en-US" sz="2000" dirty="0"/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2000" dirty="0"/>
              <a:t>Provide quality food and smart pricing to attract and retain customers.</a:t>
            </a:r>
            <a:endParaRPr lang="en-US" sz="2000" dirty="0"/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2000" dirty="0"/>
              <a:t>Implement online delivery and booking systems to boost satisfaction and ratings.</a:t>
            </a:r>
            <a:endParaRPr lang="en-US" sz="2000" dirty="0"/>
          </a:p>
          <a:p>
            <a:endParaRPr lang="en-US" sz="2400" dirty="0"/>
          </a:p>
        </p:txBody>
      </p:sp>
      <p:pic>
        <p:nvPicPr>
          <p:cNvPr id="5" name="Picture 4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593C0302-1F95-2DD3-28B1-0CD42E739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839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CFC0FA1E-CBDD-8042-C93F-16D8ECA8E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28" y="400110"/>
            <a:ext cx="11974069" cy="6160946"/>
          </a:xfrm>
          <a:prstGeom prst="rect">
            <a:avLst/>
          </a:prstGeom>
        </p:spPr>
      </p:pic>
      <p:pic>
        <p:nvPicPr>
          <p:cNvPr id="4" name="Picture 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377E1A7B-4AF8-1782-4448-BD9CF3DDF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418B7C-8918-4D13-F78D-85104E759A8C}"/>
              </a:ext>
            </a:extLst>
          </p:cNvPr>
          <p:cNvSpPr txBox="1"/>
          <p:nvPr/>
        </p:nvSpPr>
        <p:spPr>
          <a:xfrm>
            <a:off x="-57610" y="0"/>
            <a:ext cx="2863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3970A3"/>
                </a:solidFill>
                <a:latin typeface="+mj-lt"/>
              </a:rPr>
              <a:t>Final Dashboard</a:t>
            </a:r>
            <a:r>
              <a:rPr lang="en-US" sz="2000" b="1" dirty="0">
                <a:solidFill>
                  <a:srgbClr val="3970A3"/>
                </a:solidFill>
                <a:latin typeface="+mj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86210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F026D-7EB6-9401-279A-F53E1C1C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1" y="457200"/>
            <a:ext cx="10369485" cy="1600200"/>
          </a:xfrm>
        </p:spPr>
        <p:txBody>
          <a:bodyPr/>
          <a:lstStyle/>
          <a:p>
            <a:r>
              <a:rPr lang="en-US" b="1" dirty="0">
                <a:solidFill>
                  <a:srgbClr val="3970A3"/>
                </a:solidFill>
              </a:rPr>
              <a:t>                                                     </a:t>
            </a:r>
            <a:r>
              <a:rPr lang="en-US" b="1" u="sng" dirty="0">
                <a:solidFill>
                  <a:srgbClr val="3970A3"/>
                </a:solidFill>
              </a:rPr>
              <a:t>Conclusion</a:t>
            </a:r>
            <a:r>
              <a:rPr lang="en-US" dirty="0">
                <a:solidFill>
                  <a:srgbClr val="3970A3"/>
                </a:solidFill>
              </a:rPr>
              <a:t>:</a:t>
            </a:r>
            <a:br>
              <a:rPr lang="en-IN" dirty="0">
                <a:solidFill>
                  <a:srgbClr val="3970A3"/>
                </a:solidFill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F5621-9B00-F890-FE4C-3ECE7984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824311" cy="3811588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An in-depth examination of restaurant data has shown a number of promising prospects for international growth. 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We can strategically place ourselves in markets with less competition by concentrating on nations with high average ratings and smaller restaurant densities.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North Indian, Chinese, Fast Food, Café, Bakery, Desserts, Street Food are the top cuisines available in restaurants across all countries.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Given their high levels of consumer satisfaction, targeting cities in the Sri Lanka and Indonesia has great promise. </a:t>
            </a:r>
          </a:p>
          <a:p>
            <a:endParaRPr lang="en-US" dirty="0"/>
          </a:p>
        </p:txBody>
      </p:sp>
      <p:pic>
        <p:nvPicPr>
          <p:cNvPr id="5" name="Picture 4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4BF9D3C4-6B06-50EF-D26C-BBDA6097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02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0B210-2BBD-C223-7DA2-55F59482F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48033" y="2310061"/>
            <a:ext cx="8936167" cy="3053599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rgbClr val="3970A3"/>
                </a:solidFill>
              </a:rPr>
              <a:t>         </a:t>
            </a:r>
            <a:r>
              <a:rPr lang="en-US" sz="7200" b="1" dirty="0">
                <a:solidFill>
                  <a:srgbClr val="3970A3"/>
                </a:solidFill>
              </a:rPr>
              <a:t>THANK YOU</a:t>
            </a:r>
          </a:p>
        </p:txBody>
      </p:sp>
      <p:pic>
        <p:nvPicPr>
          <p:cNvPr id="5" name="Picture 4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F27B4001-C248-0D7B-C67F-385B027ED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6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1214</Words>
  <Application>Microsoft Macintosh PowerPoint</Application>
  <PresentationFormat>Widescreen</PresentationFormat>
  <Paragraphs>130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Wingdings</vt:lpstr>
      <vt:lpstr>Office Theme</vt:lpstr>
      <vt:lpstr>Spreadsheet Project  Zomato Restaurant Expansion  A Data-driven Analysis &amp; Recommendation   By Amar   Date :- 26-10-2025</vt:lpstr>
      <vt:lpstr>What is Zomato &amp; how does it work? </vt:lpstr>
      <vt:lpstr>Agenda.</vt:lpstr>
      <vt:lpstr>PowerPoint Presentation</vt:lpstr>
      <vt:lpstr>PowerPoint Presentation</vt:lpstr>
      <vt:lpstr>                                     Objective Of Project </vt:lpstr>
      <vt:lpstr>PowerPoint Presentation</vt:lpstr>
      <vt:lpstr>PowerPoint Presentation</vt:lpstr>
      <vt:lpstr>                                                        Methodology</vt:lpstr>
      <vt:lpstr>Key Metrics and Visualization</vt:lpstr>
      <vt:lpstr>PowerPoint Presentation</vt:lpstr>
      <vt:lpstr>PowerPoint Presentation</vt:lpstr>
      <vt:lpstr>PowerPoint Presentation</vt:lpstr>
      <vt:lpstr>Top 10 Cuisines:</vt:lpstr>
      <vt:lpstr>Average cost of two INR:</vt:lpstr>
      <vt:lpstr>PowerPoint Presentation</vt:lpstr>
      <vt:lpstr>Recommendations: </vt:lpstr>
      <vt:lpstr>PowerPoint Presentation</vt:lpstr>
      <vt:lpstr>                                                     Conclusion: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 Amar</dc:creator>
  <cp:lastModifiedBy>Amar Amar</cp:lastModifiedBy>
  <cp:revision>66</cp:revision>
  <dcterms:created xsi:type="dcterms:W3CDTF">2025-10-16T20:10:43Z</dcterms:created>
  <dcterms:modified xsi:type="dcterms:W3CDTF">2025-10-29T19:31:34Z</dcterms:modified>
</cp:coreProperties>
</file>